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8" r:id="rId3"/>
    <p:sldId id="259" r:id="rId4"/>
    <p:sldId id="260" r:id="rId5"/>
    <p:sldId id="261" r:id="rId6"/>
    <p:sldId id="262" r:id="rId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46" d="100"/>
          <a:sy n="146" d="100"/>
        </p:scale>
        <p:origin x="59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489141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8.jpeg"/><Relationship Id="rId4" Type="http://schemas.openxmlformats.org/officeDocument/2006/relationships/image" Target="../media/image7.jpe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4114800" cy="5143500"/>
          </a:xfrm>
          <a:prstGeom prst="rect">
            <a:avLst/>
          </a:prstGeom>
          <a:solidFill>
            <a:srgbClr val="2C5282"/>
          </a:solidFill>
          <a:ln/>
        </p:spPr>
      </p:sp>
      <p:sp>
        <p:nvSpPr>
          <p:cNvPr id="4" name="Text 1"/>
          <p:cNvSpPr/>
          <p:nvPr/>
        </p:nvSpPr>
        <p:spPr>
          <a:xfrm>
            <a:off x="571500" y="571500"/>
            <a:ext cx="2971800" cy="20116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Indicadores Econômicos do Rio de Janeiro</a:t>
            </a:r>
            <a:endParaRPr lang="en-US" sz="3294" dirty="0"/>
          </a:p>
        </p:txBody>
      </p:sp>
      <p:sp>
        <p:nvSpPr>
          <p:cNvPr id="5" name="Text 2"/>
          <p:cNvSpPr/>
          <p:nvPr/>
        </p:nvSpPr>
        <p:spPr>
          <a:xfrm>
            <a:off x="571500" y="2754585"/>
            <a:ext cx="297180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704" dirty="0">
                <a:solidFill>
                  <a:srgbClr val="63B3ED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Análise Comparativa 2000–2006</a:t>
            </a:r>
            <a:endParaRPr lang="en-US" sz="1704" dirty="0"/>
          </a:p>
        </p:txBody>
      </p:sp>
      <p:sp>
        <p:nvSpPr>
          <p:cNvPr id="6" name="Text 3"/>
          <p:cNvSpPr/>
          <p:nvPr/>
        </p:nvSpPr>
        <p:spPr>
          <a:xfrm>
            <a:off x="571500" y="4248745"/>
            <a:ext cx="2971800" cy="323255"/>
          </a:xfrm>
          <a:prstGeom prst="rect">
            <a:avLst/>
          </a:prstGeom>
          <a:noFill/>
          <a:ln/>
        </p:spPr>
        <p:txBody>
          <a:bodyPr wrap="square" lIns="0" tIns="170053" rIns="0" bIns="0" rtlCol="0" anchor="t">
            <a:spAutoFit/>
          </a:bodyPr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050" dirty="0">
                <a:solidFill>
                  <a:srgbClr val="EDF2F7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Fonte: IBGE — Pesquisa Anual de Serviços</a:t>
            </a:r>
            <a:endParaRPr lang="en-US" sz="1050" dirty="0"/>
          </a:p>
        </p:txBody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14800" y="0"/>
            <a:ext cx="50292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7715250" cy="4339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1195"/>
            <a:ext cx="7715250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71500"/>
            <a:ext cx="77152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e Salários Lideram o Crescimento Econômico Carioca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714375" y="1619845"/>
            <a:ext cx="2596474" cy="228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Entre 2000 e 2006, os quatro indicadores apresentaram crescimento consistente, com destaque para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Total (+95,7%)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Salários (+92,3%)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que avançaram bem acima da expansão do </a:t>
            </a:r>
            <a:r>
              <a:rPr lang="en-US" sz="987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</a:rPr>
              <a:t>Número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</a:rPr>
              <a:t> de Empresas (+28,3%) 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do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</a:rPr>
              <a:t>Pessoal </a:t>
            </a:r>
            <a:r>
              <a:rPr lang="en-US" sz="987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</a:rPr>
              <a:t>Ocupado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</a:rPr>
              <a:t> (+29,5%).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Sugere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-se 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houveram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ganhos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mas concentração de receita nas empresas já estabelecidas.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596599" y="1276945"/>
            <a:ext cx="4833026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474" y="1419820"/>
            <a:ext cx="4547276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7715250" cy="4339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1195"/>
            <a:ext cx="7715250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71500"/>
            <a:ext cx="7715250" cy="27682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Limpeza e TI Dominam o Crescimento de Receita no Rio</a:t>
            </a:r>
            <a:endParaRPr lang="en-US" sz="1602" dirty="0"/>
          </a:p>
        </p:txBody>
      </p:sp>
      <p:sp>
        <p:nvSpPr>
          <p:cNvPr id="6" name="Text 3"/>
          <p:cNvSpPr/>
          <p:nvPr/>
        </p:nvSpPr>
        <p:spPr>
          <a:xfrm>
            <a:off x="490905" y="2342659"/>
            <a:ext cx="2962819" cy="90627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As três atividades com maior variação de </a:t>
            </a:r>
            <a:r>
              <a:rPr lang="en-US" sz="1050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Total</a:t>
            </a: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entre 2000 e 2006 revelam a força dos </a:t>
            </a: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de apoio empresarial </a:t>
            </a: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 da </a:t>
            </a:r>
            <a:r>
              <a:rPr lang="en-US" sz="1200" b="1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da informação </a:t>
            </a:r>
            <a:r>
              <a:rPr lang="en-US" sz="12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mercado carioca.</a:t>
            </a:r>
          </a:p>
        </p:txBody>
      </p:sp>
      <p:sp>
        <p:nvSpPr>
          <p:cNvPr id="7" name="Shape 4"/>
          <p:cNvSpPr/>
          <p:nvPr/>
        </p:nvSpPr>
        <p:spPr>
          <a:xfrm>
            <a:off x="3596599" y="1276945"/>
            <a:ext cx="4833026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39474" y="1419820"/>
            <a:ext cx="4547276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7715250" cy="7108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1268016"/>
            <a:ext cx="7715250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71500"/>
            <a:ext cx="7715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de Limpeza e Transporte Aquaviário Lideram Expansão Salarial</a:t>
            </a:r>
            <a:endParaRPr lang="en-US" sz="1602" dirty="0"/>
          </a:p>
        </p:txBody>
      </p:sp>
      <p:sp>
        <p:nvSpPr>
          <p:cNvPr id="6" name="Shape 3"/>
          <p:cNvSpPr/>
          <p:nvPr/>
        </p:nvSpPr>
        <p:spPr>
          <a:xfrm>
            <a:off x="714375" y="1553766"/>
            <a:ext cx="4833026" cy="34290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1696641"/>
            <a:ext cx="4547276" cy="314325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5833151" y="1905149"/>
            <a:ext cx="259647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Os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de Limpeza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registraram aumento de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+531,0%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nos salários, enquanto o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 Aquaviário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(+462,1%) e as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Atividades de Informática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(+222,7%) completam o pódio.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Shape 0"/>
          <p:cNvSpPr/>
          <p:nvPr/>
        </p:nvSpPr>
        <p:spPr>
          <a:xfrm>
            <a:off x="714375" y="571500"/>
            <a:ext cx="7715250" cy="71080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5" name="Shape 1"/>
          <p:cNvSpPr/>
          <p:nvPr/>
        </p:nvSpPr>
        <p:spPr>
          <a:xfrm>
            <a:off x="714375" y="1268016"/>
            <a:ext cx="7715250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6" name="Text 2"/>
          <p:cNvSpPr/>
          <p:nvPr/>
        </p:nvSpPr>
        <p:spPr>
          <a:xfrm>
            <a:off x="714375" y="571500"/>
            <a:ext cx="7715250" cy="5536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de Limpeza Concentram a Maior Expansão do Emprego Formal</a:t>
            </a:r>
            <a:endParaRPr lang="en-US" sz="1602" dirty="0"/>
          </a:p>
        </p:txBody>
      </p:sp>
      <p:sp>
        <p:nvSpPr>
          <p:cNvPr id="7" name="Text 3"/>
          <p:cNvSpPr/>
          <p:nvPr/>
        </p:nvSpPr>
        <p:spPr>
          <a:xfrm>
            <a:off x="662124" y="1708990"/>
            <a:ext cx="2967168" cy="22861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 pessoal ocupado cresceu de forma mais moderada em comparação com receita e salários, sinalizando ganhos de </a:t>
            </a:r>
            <a:r>
              <a:rPr lang="en-US" sz="105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produtividade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 Os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 de Limpeza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lideraram com +210,6%, seguidos por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Manutenção e Reparação de Objetos Pessoais e Domésticos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(+68,5%) e 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Correio e Atividades de Entrega</a:t>
            </a: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(+52,5%).</a:t>
            </a:r>
          </a:p>
          <a:p>
            <a:pPr marL="0" indent="0" algn="l">
              <a:lnSpc>
                <a:spcPts val="1800"/>
              </a:lnSpc>
              <a:buNone/>
            </a:pPr>
            <a:r>
              <a:rPr lang="en-US" sz="105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endParaRPr lang="en-US" sz="1050" dirty="0"/>
          </a:p>
        </p:txBody>
      </p:sp>
      <p:sp>
        <p:nvSpPr>
          <p:cNvPr id="8" name="Shape 4"/>
          <p:cNvSpPr/>
          <p:nvPr/>
        </p:nvSpPr>
        <p:spPr>
          <a:xfrm>
            <a:off x="3967293" y="1553766"/>
            <a:ext cx="4462332" cy="3429000"/>
          </a:xfrm>
          <a:prstGeom prst="rect">
            <a:avLst/>
          </a:prstGeom>
          <a:solidFill>
            <a:srgbClr val="FFFFFF">
              <a:alpha val="90000"/>
            </a:srgbClr>
          </a:solidFill>
          <a:ln w="9144">
            <a:solidFill>
              <a:srgbClr val="CBD5E0"/>
            </a:solidFill>
            <a:prstDash val="solid"/>
          </a:ln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110391" y="1696641"/>
            <a:ext cx="4176359" cy="31432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1786"/>
            <a:ext cx="9144000" cy="51435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714375" y="571500"/>
            <a:ext cx="7715250" cy="433983"/>
          </a:xfrm>
          <a:prstGeom prst="rect">
            <a:avLst/>
          </a:prstGeom>
          <a:solidFill>
            <a:srgbClr val="000000">
              <a:alpha val="0"/>
            </a:srgbClr>
          </a:solidFill>
          <a:ln/>
        </p:spPr>
      </p:sp>
      <p:sp>
        <p:nvSpPr>
          <p:cNvPr id="4" name="Shape 1"/>
          <p:cNvSpPr/>
          <p:nvPr/>
        </p:nvSpPr>
        <p:spPr>
          <a:xfrm>
            <a:off x="714375" y="991195"/>
            <a:ext cx="7715250" cy="14288"/>
          </a:xfrm>
          <a:prstGeom prst="rect">
            <a:avLst/>
          </a:prstGeom>
          <a:solidFill>
            <a:srgbClr val="3182CE"/>
          </a:solidFill>
          <a:ln/>
        </p:spPr>
      </p:sp>
      <p:sp>
        <p:nvSpPr>
          <p:cNvPr id="5" name="Text 2"/>
          <p:cNvSpPr/>
          <p:nvPr/>
        </p:nvSpPr>
        <p:spPr>
          <a:xfrm>
            <a:off x="714375" y="571500"/>
            <a:ext cx="870431" cy="26577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2200"/>
              </a:lnSpc>
              <a:buNone/>
            </a:pPr>
            <a:r>
              <a:rPr lang="en-US" sz="1602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Conclusão</a:t>
            </a:r>
            <a:endParaRPr lang="en-US" sz="1602" dirty="0"/>
          </a:p>
        </p:txBody>
      </p:sp>
      <p:sp>
        <p:nvSpPr>
          <p:cNvPr id="7" name="Shape 4"/>
          <p:cNvSpPr/>
          <p:nvPr/>
        </p:nvSpPr>
        <p:spPr>
          <a:xfrm>
            <a:off x="657329" y="1530549"/>
            <a:ext cx="3750469" cy="13001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0217" y="1766293"/>
            <a:ext cx="228600" cy="2286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300267" y="1744861"/>
            <a:ext cx="2893219" cy="196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e </a:t>
            </a:r>
            <a:r>
              <a:rPr lang="en-US" sz="987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salários</a:t>
            </a:r>
            <a:endParaRPr lang="en-US" sz="987" dirty="0"/>
          </a:p>
        </p:txBody>
      </p:sp>
      <p:sp>
        <p:nvSpPr>
          <p:cNvPr id="10" name="Text 6"/>
          <p:cNvSpPr/>
          <p:nvPr/>
        </p:nvSpPr>
        <p:spPr>
          <a:xfrm>
            <a:off x="1300267" y="2129730"/>
            <a:ext cx="274677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Indicando ganhos de produtividade e possível</a:t>
            </a:r>
            <a:endParaRPr lang="en-US" sz="942" dirty="0"/>
          </a:p>
        </p:txBody>
      </p:sp>
      <p:sp>
        <p:nvSpPr>
          <p:cNvPr id="11" name="Text 7"/>
          <p:cNvSpPr/>
          <p:nvPr/>
        </p:nvSpPr>
        <p:spPr>
          <a:xfrm>
            <a:off x="1300267" y="2324740"/>
            <a:ext cx="14233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concentração de renda.</a:t>
            </a:r>
            <a:endParaRPr lang="en-US" sz="942" dirty="0"/>
          </a:p>
        </p:txBody>
      </p:sp>
      <p:sp>
        <p:nvSpPr>
          <p:cNvPr id="12" name="Shape 8"/>
          <p:cNvSpPr/>
          <p:nvPr/>
        </p:nvSpPr>
        <p:spPr>
          <a:xfrm>
            <a:off x="4639051" y="1530549"/>
            <a:ext cx="3750469" cy="1300163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3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64998" y="1766293"/>
            <a:ext cx="228600" cy="2286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265048" y="1744861"/>
            <a:ext cx="1362552" cy="1969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987" b="1" dirty="0" err="1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empregos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5093598" y="2034183"/>
            <a:ext cx="3007623" cy="56284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00"/>
              </a:lnSpc>
            </a:pP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concentração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crescimento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emprego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serviços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baixa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qualificação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aponta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desafios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estruturais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no mercado de </a:t>
            </a:r>
            <a:r>
              <a:rPr lang="en-US" sz="1000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trabalho</a:t>
            </a:r>
            <a:r>
              <a:rPr lang="en-US" sz="1000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carioca.</a:t>
            </a:r>
            <a:endParaRPr lang="en-US" sz="942" dirty="0"/>
          </a:p>
        </p:txBody>
      </p:sp>
      <p:sp>
        <p:nvSpPr>
          <p:cNvPr id="17" name="Shape 12"/>
          <p:cNvSpPr/>
          <p:nvPr/>
        </p:nvSpPr>
        <p:spPr>
          <a:xfrm>
            <a:off x="657329" y="3045024"/>
            <a:ext cx="3750469" cy="12787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71642" y="3280768"/>
            <a:ext cx="285750" cy="228600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300267" y="3259336"/>
            <a:ext cx="28932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Tecnologia da informação</a:t>
            </a:r>
            <a:endParaRPr lang="en-US" sz="987" dirty="0"/>
          </a:p>
        </p:txBody>
      </p:sp>
      <p:sp>
        <p:nvSpPr>
          <p:cNvPr id="20" name="Text 14"/>
          <p:cNvSpPr/>
          <p:nvPr/>
        </p:nvSpPr>
        <p:spPr>
          <a:xfrm>
            <a:off x="1300267" y="3548658"/>
            <a:ext cx="2566392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Emerge como setor de alto crescimento de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1300267" y="3741539"/>
            <a:ext cx="1046559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receita e salários.</a:t>
            </a:r>
            <a:endParaRPr lang="en-US" sz="942" dirty="0"/>
          </a:p>
        </p:txBody>
      </p:sp>
      <p:sp>
        <p:nvSpPr>
          <p:cNvPr id="22" name="Shape 16"/>
          <p:cNvSpPr/>
          <p:nvPr/>
        </p:nvSpPr>
        <p:spPr>
          <a:xfrm>
            <a:off x="4639050" y="3040280"/>
            <a:ext cx="3750469" cy="1278731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2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36423" y="3280768"/>
            <a:ext cx="285750" cy="228600"/>
          </a:xfrm>
          <a:prstGeom prst="rect">
            <a:avLst/>
          </a:prstGeom>
        </p:spPr>
      </p:pic>
      <p:sp>
        <p:nvSpPr>
          <p:cNvPr id="24" name="Text 17"/>
          <p:cNvSpPr/>
          <p:nvPr/>
        </p:nvSpPr>
        <p:spPr>
          <a:xfrm>
            <a:off x="5265048" y="3259336"/>
            <a:ext cx="2893219" cy="214313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700"/>
              </a:lnSpc>
              <a:buNone/>
            </a:pPr>
            <a:r>
              <a:rPr lang="en-US" sz="987" b="1" dirty="0">
                <a:solidFill>
                  <a:srgbClr val="2C5282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Infraestrutura urbana</a:t>
            </a:r>
            <a:endParaRPr lang="en-US" sz="987" dirty="0"/>
          </a:p>
        </p:txBody>
      </p:sp>
      <p:sp>
        <p:nvSpPr>
          <p:cNvPr id="25" name="Text 18"/>
          <p:cNvSpPr/>
          <p:nvPr/>
        </p:nvSpPr>
        <p:spPr>
          <a:xfrm>
            <a:off x="5265048" y="3548658"/>
            <a:ext cx="2382062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(Limpeza, </a:t>
            </a:r>
            <a:r>
              <a:rPr lang="en-US" sz="942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transporte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 </a:t>
            </a:r>
            <a:r>
              <a:rPr lang="en-US" sz="942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correios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42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expandiram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942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suas</a:t>
            </a:r>
            <a:endParaRPr lang="en-US" sz="942" dirty="0"/>
          </a:p>
        </p:txBody>
      </p:sp>
      <p:sp>
        <p:nvSpPr>
          <p:cNvPr id="26" name="Text 19"/>
          <p:cNvSpPr/>
          <p:nvPr/>
        </p:nvSpPr>
        <p:spPr>
          <a:xfrm>
            <a:off x="5265048" y="3741539"/>
            <a:ext cx="2335576" cy="1761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bases de </a:t>
            </a:r>
            <a:r>
              <a:rPr lang="en-US" sz="942" dirty="0" err="1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empresariais</a:t>
            </a: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refletindo investimentos</a:t>
            </a:r>
            <a:endParaRPr lang="en-US" sz="942" dirty="0"/>
          </a:p>
        </p:txBody>
      </p:sp>
      <p:sp>
        <p:nvSpPr>
          <p:cNvPr id="27" name="Text 20"/>
          <p:cNvSpPr/>
          <p:nvPr/>
        </p:nvSpPr>
        <p:spPr>
          <a:xfrm>
            <a:off x="5265048" y="3934421"/>
            <a:ext cx="1221581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marL="0" indent="0" algn="l">
              <a:lnSpc>
                <a:spcPts val="1500"/>
              </a:lnSpc>
              <a:buNone/>
            </a:pPr>
            <a:r>
              <a:rPr lang="en-US" sz="942" dirty="0">
                <a:solidFill>
                  <a:srgbClr val="4A55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públicos no período.</a:t>
            </a:r>
            <a:endParaRPr lang="en-US" sz="942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310</Words>
  <Application>Microsoft Office PowerPoint</Application>
  <PresentationFormat>Apresentação na tela (16:9)</PresentationFormat>
  <Paragraphs>33</Paragraphs>
  <Slides>6</Slides>
  <Notes>6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6</vt:i4>
      </vt:variant>
    </vt:vector>
  </HeadingPairs>
  <TitlesOfParts>
    <vt:vector size="9" baseType="lpstr">
      <vt:lpstr>Arial</vt:lpstr>
      <vt:lpstr>Inter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Matheus Vieira</cp:lastModifiedBy>
  <cp:revision>3</cp:revision>
  <dcterms:created xsi:type="dcterms:W3CDTF">2026-03-26T23:16:41Z</dcterms:created>
  <dcterms:modified xsi:type="dcterms:W3CDTF">2026-03-26T23:27:32Z</dcterms:modified>
</cp:coreProperties>
</file>